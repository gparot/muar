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8d34728-b1c3-620b-6cc6-c5592a697ac4}">
          <p14:sldIdLst>
            <p14:sldId id="256"/>
            <p14:sldId id="257"/>
            <p14:sldId id="258"/>
            <p14:sldId id="259"/>
          </p14:sldIdLst>
        </p14:section>
        <p14:section name="Resultados por laberinto" id="{5b0ca9ac-909b-23bb-8ad8-621cfad3054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nálisis" id="{196f33d5-26f9-400f-062e-bd0a29b0bcbb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F3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2F36"/>
                </a:solidFill>
                <a:latin typeface="+mn-lt"/>
              </a:rPr>
              <a:t>Nodos analizados (IDDF aparte por escala)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ejemplo</c:v>
                  </c:pt>
                  <c:pt idx="6">
                    <c:v>horizontal</c:v>
                  </c:pt>
                  <c:pt idx="7">
                    <c:v>libre</c:v>
                  </c:pt>
                  <c:pt idx="8">
                    <c:v>trampa</c:v>
                  </c:pt>
                  <c:pt idx="9">
                    <c:v>trampa2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160</c:v>
                </c:pt>
                <c:pt idx="1">
                  <c:v>161</c:v>
                </c:pt>
                <c:pt idx="2">
                  <c:v>56</c:v>
                </c:pt>
                <c:pt idx="3">
                  <c:v>51</c:v>
                </c:pt>
                <c:pt idx="4">
                  <c:v>141</c:v>
                </c:pt>
                <c:pt idx="5">
                  <c:v>166</c:v>
                </c:pt>
                <c:pt idx="6">
                  <c:v>163</c:v>
                </c:pt>
                <c:pt idx="7">
                  <c:v>308</c:v>
                </c:pt>
                <c:pt idx="8">
                  <c:v>33</c:v>
                </c:pt>
                <c:pt idx="9">
                  <c:v>186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DF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ejemplo</c:v>
                  </c:pt>
                  <c:pt idx="6">
                    <c:v>horizontal</c:v>
                  </c:pt>
                  <c:pt idx="7">
                    <c:v>libre</c:v>
                  </c:pt>
                  <c:pt idx="8">
                    <c:v>trampa</c:v>
                  </c:pt>
                  <c:pt idx="9">
                    <c:v>trampa2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114</c:v>
                </c:pt>
                <c:pt idx="1">
                  <c:v>88</c:v>
                </c:pt>
                <c:pt idx="2">
                  <c:v>55</c:v>
                </c:pt>
                <c:pt idx="3">
                  <c:v>175</c:v>
                </c:pt>
                <c:pt idx="4">
                  <c:v>44</c:v>
                </c:pt>
                <c:pt idx="5">
                  <c:v>154</c:v>
                </c:pt>
                <c:pt idx="6">
                  <c:v>163</c:v>
                </c:pt>
                <c:pt idx="7">
                  <c:v>164</c:v>
                </c:pt>
                <c:pt idx="8">
                  <c:v>136</c:v>
                </c:pt>
                <c:pt idx="9">
                  <c:v>107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 First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ejemplo</c:v>
                  </c:pt>
                  <c:pt idx="6">
                    <c:v>horizontal</c:v>
                  </c:pt>
                  <c:pt idx="7">
                    <c:v>libre</c:v>
                  </c:pt>
                  <c:pt idx="8">
                    <c:v>trampa</c:v>
                  </c:pt>
                  <c:pt idx="9">
                    <c:v>trampa2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118</c:v>
                </c:pt>
                <c:pt idx="1">
                  <c:v>119</c:v>
                </c:pt>
                <c:pt idx="2">
                  <c:v>57</c:v>
                </c:pt>
                <c:pt idx="3">
                  <c:v>36</c:v>
                </c:pt>
                <c:pt idx="4">
                  <c:v>104</c:v>
                </c:pt>
                <c:pt idx="5">
                  <c:v>100</c:v>
                </c:pt>
                <c:pt idx="6">
                  <c:v>163</c:v>
                </c:pt>
                <c:pt idx="7">
                  <c:v>36</c:v>
                </c:pt>
                <c:pt idx="8">
                  <c:v>16</c:v>
                </c:pt>
                <c:pt idx="9">
                  <c:v>51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A*</c:v>
                </c:pt>
              </c:strCache>
            </c:strRef>
          </c:tx>
          <c:spPr>
            <a:solidFill>
              <a:srgbClr val="2E9E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ejemplo</c:v>
                  </c:pt>
                  <c:pt idx="6">
                    <c:v>horizontal</c:v>
                  </c:pt>
                  <c:pt idx="7">
                    <c:v>libre</c:v>
                  </c:pt>
                  <c:pt idx="8">
                    <c:v>trampa</c:v>
                  </c:pt>
                  <c:pt idx="9">
                    <c:v>trampa2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151</c:v>
                </c:pt>
                <c:pt idx="1">
                  <c:v>150</c:v>
                </c:pt>
                <c:pt idx="2">
                  <c:v>45</c:v>
                </c:pt>
                <c:pt idx="3">
                  <c:v>38</c:v>
                </c:pt>
                <c:pt idx="4">
                  <c:v>102</c:v>
                </c:pt>
                <c:pt idx="5">
                  <c:v>124</c:v>
                </c:pt>
                <c:pt idx="6">
                  <c:v>163</c:v>
                </c:pt>
                <c:pt idx="7">
                  <c:v>207</c:v>
                </c:pt>
                <c:pt idx="8">
                  <c:v>18</c:v>
                </c:pt>
                <c:pt idx="9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4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4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4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Algoritmos de búsqueda en laberintos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Algoritmos de búsqueda en laberintos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BF · DF · Best First · A* · IDDF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Ejercicio evaluable · Matemáticas para Automática y Robótica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Máster en Automática y Robótica · ETSII-UPM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Gonzalo · Octubre 2026</a:t>
            </a:r>
            <a:endParaRPr lang="en-US" sz="1800" dirty="0"/>
          </a:p>
        </p:txBody>
      </p:sp>
      <p:pic>
        <p:nvPicPr>
          <p:cNvPr id="4" name="laberinto_portada" descr="Laberinto resuelto con A*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411480"/>
            <a:ext cx="2103120" cy="1911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Descripción del programa</a:t>
            </a:r>
            <a:endParaRPr lang="en-US" sz="3000" dirty="0"/>
          </a:p>
        </p:txBody>
      </p:sp>
      <p:sp>
        <p:nvSpPr>
          <p:cNvPr id="3" name="tarjeta_0"/>
          <p:cNvSpPr/>
          <p:nvPr/>
        </p:nvSpPr>
        <p:spPr>
          <a:xfrm>
            <a:off x="45720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y entorno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C++17, compilado con g++ 16.2 (MSYS2, UCRT64)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Editor: Visual Studio Code en Windows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Menú para elegir uno de los 12 laberintos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Salida redirigida a archivo: echo N | ./laberinto &gt; salida_N.txt</a:t>
            </a:r>
            <a:endParaRPr lang="en-US" sz="1500" dirty="0"/>
          </a:p>
        </p:txBody>
      </p:sp>
      <p:sp>
        <p:nvSpPr>
          <p:cNvPr id="6" name="tarjeta_1"/>
          <p:cNvSpPr/>
          <p:nvPr/>
        </p:nvSpPr>
        <p:spPr>
          <a:xfrm>
            <a:off x="429768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código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0116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Structs: celda, Laberinto, Nodo, Resultado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leerLaberinto(): lee el .txt, localiza I (4) y G (5)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Una función por algoritmo: bf, df, bestfirstf, Aestrella, iddf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Matriz de padres para reconstruir el camino</a:t>
            </a:r>
            <a:endParaRPr lang="en-US" sz="1500" dirty="0"/>
          </a:p>
        </p:txBody>
      </p:sp>
      <p:sp>
        <p:nvSpPr>
          <p:cNvPr id="9" name="tarjeta_2"/>
          <p:cNvSpPr/>
          <p:nvPr/>
        </p:nvSpPr>
        <p:spPr>
          <a:xfrm>
            <a:off x="813816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0116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Claude (Anthropic) como apoyo para repasar C++, entender los algoritmos y depurar errores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BF, DF, Best First y A* escritos y depurados paso a paso con su guía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IDDF: versión propuesta por la IA, revisada y adaptada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Imágenes de las soluciones generadas a partir de la salida del programa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Los cinco algoritmos: solo cambia cómo se gestiona OPEN</a:t>
            </a:r>
            <a:endParaRPr lang="en-US" sz="3000" dirty="0"/>
          </a:p>
        </p:txBody>
      </p:sp>
      <p:graphicFrame>
        <p:nvGraphicFramePr>
          <p:cNvPr id="4" name="tabla_algoritm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29184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Algoritmo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Estructura de OPEN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Nodo que se extrae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¿Camino más corto?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BF (anchura)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queue (FIFO)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El más antiguo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DF (profundidad)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stack (LIFO)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El más reciente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Best First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priority_queue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Menor h(n)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A*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priority_queue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Menor f(n) = g(n) + h(n)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Sí (h admisible)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IDDF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stack + límite C = 0, 1, 2…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DF sin pasar de profundidad 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nota_comun"/>
          <p:cNvSpPr/>
          <p:nvPr/>
        </p:nvSpPr>
        <p:spPr>
          <a:xfrm>
            <a:off x="457200" y="4572000"/>
            <a:ext cx="112471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7091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Esquema común: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OPEN = {I}. Se extrae un nodo; si es G, fin. Si no, pasa a CLOSED y sus vecinos libres no visitados entran en OPEN. Si OPEN se vacía, no hay solución. Las cinco funciones comparten la lectura, el cálculo de vecinos y la reconstrucción del camino.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Convenciones y cómo se mide cada métrica</a:t>
            </a:r>
            <a:endParaRPr lang="en-US" sz="3000" dirty="0"/>
          </a:p>
        </p:txBody>
      </p:sp>
      <p:sp>
        <p:nvSpPr>
          <p:cNvPr id="3" name="punto_0"/>
          <p:cNvSpPr/>
          <p:nvPr/>
        </p:nvSpPr>
        <p:spPr>
          <a:xfrm>
            <a:off x="457200" y="13441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344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Vecinos: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Orden arriba, abajo, izquierda, derecha. En DF la pila invierte el orden: se prueba primero la derecha.</a:t>
            </a:r>
            <a:endParaRPr lang="en-US" sz="1400" dirty="0"/>
          </a:p>
        </p:txBody>
      </p:sp>
      <p:sp>
        <p:nvSpPr>
          <p:cNvPr id="6" name="punto_1"/>
          <p:cNvSpPr/>
          <p:nvPr/>
        </p:nvSpPr>
        <p:spPr>
          <a:xfrm>
            <a:off x="457200" y="20574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4767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Nodos analizados: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Nodos extraídos de OPEN, incluida la meta. Son los «pasos» del enunciado.</a:t>
            </a:r>
            <a:endParaRPr lang="en-US" sz="1400" dirty="0"/>
          </a:p>
        </p:txBody>
      </p:sp>
      <p:sp>
        <p:nvSpPr>
          <p:cNvPr id="9" name="punto_2"/>
          <p:cNvSpPr/>
          <p:nvPr/>
        </p:nvSpPr>
        <p:spPr>
          <a:xfrm>
            <a:off x="457200" y="27706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66090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Profundidad: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Longitud del camino en movimientos. En casillas sería un valor más (se cuenta la I).</a:t>
            </a:r>
            <a:endParaRPr lang="en-US" sz="1400" dirty="0"/>
          </a:p>
        </p:txBody>
      </p:sp>
      <p:sp>
        <p:nvSpPr>
          <p:cNvPr id="12" name="punto_3"/>
          <p:cNvSpPr/>
          <p:nvPr/>
        </p:nvSpPr>
        <p:spPr>
          <a:xfrm>
            <a:off x="457200" y="348386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7413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Heurística: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Distancia Manhattan h(n) = |Δfila| + |Δcol|. Admisible: sin diagonales nunca sobreestima.</a:t>
            </a:r>
            <a:endParaRPr lang="en-US" sz="1400" dirty="0"/>
          </a:p>
        </p:txBody>
      </p:sp>
      <p:sp>
        <p:nvSpPr>
          <p:cNvPr id="15" name="punto_4"/>
          <p:cNvSpPr/>
          <p:nvPr/>
        </p:nvSpPr>
        <p:spPr>
          <a:xfrm>
            <a:off x="457200" y="41970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08736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Máx. OPEN / CLOSED: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 se mide tras expandir cada nodo. CLOSED = nodos expandidos; en IDDF, máximo por iteración.</a:t>
            </a:r>
            <a:endParaRPr lang="en-US" sz="1400" dirty="0"/>
          </a:p>
        </p:txBody>
      </p:sp>
      <p:sp>
        <p:nvSpPr>
          <p:cNvPr id="18" name="punto_5"/>
          <p:cNvSpPr/>
          <p:nvPr/>
        </p:nvSpPr>
        <p:spPr>
          <a:xfrm>
            <a:off x="457200" y="4910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8006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Sin solución: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 vacía. En IDDF: una iteración en la que ningún nodo llega al límite.</a:t>
            </a:r>
            <a:endParaRPr lang="en-US" sz="1400" dirty="0"/>
          </a:p>
        </p:txBody>
      </p:sp>
      <p:sp>
        <p:nvSpPr>
          <p:cNvPr id="21" name="validacion"/>
          <p:cNvSpPr/>
          <p:nvPr/>
        </p:nvSpPr>
        <p:spPr>
          <a:xfrm>
            <a:off x="7680960" y="1234440"/>
            <a:ext cx="4023360" cy="4800600"/>
          </a:xfrm>
          <a:prstGeom prst="roundRect">
            <a:avLst>
              <a:gd name="adj" fmla="val 1818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con el enunciado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192024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maze_1 es el laberinto de la diapositiva de ejemplo.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DF: 114 nodos y 83 movimientos. El enunciado da 113 pasos y profundidad 84: coinciden al no contar la meta y medir en casillas.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A*: camino de 69 movimientos = 70 casillas, igual que el enunciado.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BF del enunciado da profundidad 79 &gt; 70: un BF estándar siempre encuentra el camino mínimo, por lo que debe tratarse de otra variante.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maze_1  ·  21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74" y="1371600"/>
            <a:ext cx="2002971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74" y="1371600"/>
            <a:ext cx="2002971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74" y="1371600"/>
            <a:ext cx="2002971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74" y="1371600"/>
            <a:ext cx="2002971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74" y="1371600"/>
            <a:ext cx="2002971" cy="2103120"/>
          </a:xfrm>
          <a:prstGeom prst="rect">
            <a:avLst/>
          </a:prstGeom>
        </p:spPr>
      </p:pic>
      <p:graphicFrame>
        <p:nvGraphicFramePr>
          <p:cNvPr id="6" name="tabla_maz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9096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(+14)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(+14)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BF, A* e IDDF encuentran el óptimo (69). DF y Best First dan 83. A* analiza menos nodos que BF (151 frente a 160).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maze_2  ·  21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74" y="1371600"/>
            <a:ext cx="2002971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74" y="1371600"/>
            <a:ext cx="2002971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74" y="1371600"/>
            <a:ext cx="2002971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74" y="1371600"/>
            <a:ext cx="2002971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74" y="1371600"/>
            <a:ext cx="2002971" cy="2103120"/>
          </a:xfrm>
          <a:prstGeom prst="rect">
            <a:avLst/>
          </a:prstGeom>
        </p:spPr>
      </p:pic>
      <p:graphicFrame>
        <p:nvGraphicFramePr>
          <p:cNvPr id="7" name="tabla_maze_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8530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149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(+14)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Óptimo 61. DF analiza menos nodos (88) pero su camino es más largo (65); Best First da el peor camino (75).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maze_3  ·  22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796" y="1371600"/>
            <a:ext cx="1911927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796" y="1371600"/>
            <a:ext cx="1911927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796" y="1371600"/>
            <a:ext cx="1911927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796" y="1371600"/>
            <a:ext cx="1911927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796" y="1371600"/>
            <a:ext cx="1911927" cy="2103120"/>
          </a:xfrm>
          <a:prstGeom prst="rect">
            <a:avLst/>
          </a:prstGeom>
        </p:spPr>
      </p:pic>
      <p:graphicFrame>
        <p:nvGraphicFramePr>
          <p:cNvPr id="8" name="tabla_maze_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(+24)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(+24)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heurística engaña a Best First, que baja en zigzag por el pasillo inferior (54). A* es el que menos nodos analiza (45).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maze_4  ·  20 × 22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7196"/>
            <a:ext cx="2103120" cy="191192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7196"/>
            <a:ext cx="2103120" cy="191192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7196"/>
            <a:ext cx="2103120" cy="191192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67196"/>
            <a:ext cx="2103120" cy="19119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467196"/>
            <a:ext cx="2103120" cy="1911927"/>
          </a:xfrm>
          <a:prstGeom prst="rect">
            <a:avLst/>
          </a:prstGeom>
        </p:spPr>
      </p:pic>
      <p:graphicFrame>
        <p:nvGraphicFramePr>
          <p:cNvPr id="9" name="tabla_maze_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707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Todos encuentran el óptimo (35). Best First y A* van casi directos (36 y 38 nodos); DF necesita 175.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maze_5  ·  20 × 22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7196"/>
            <a:ext cx="2103120" cy="191192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7196"/>
            <a:ext cx="2103120" cy="191192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7196"/>
            <a:ext cx="2103120" cy="191192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67196"/>
            <a:ext cx="2103120" cy="19119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467196"/>
            <a:ext cx="2103120" cy="1911927"/>
          </a:xfrm>
          <a:prstGeom prst="rect">
            <a:avLst/>
          </a:prstGeom>
        </p:spPr>
      </p:pic>
      <p:graphicFrame>
        <p:nvGraphicFramePr>
          <p:cNvPr id="10" name="tabla_maze_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141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2360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138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(+10)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DF analiza solo 44 nodos pero no es óptimo (36). Best First da el camino más largo (42); A* llega al óptimo con 102 nodos.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maze_ejemplo  ·  21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ejemp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74" y="1371600"/>
            <a:ext cx="2002971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ejemp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74" y="1371600"/>
            <a:ext cx="2002971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ejempl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74" y="1371600"/>
            <a:ext cx="2002971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ejempl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74" y="1371600"/>
            <a:ext cx="2002971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ejemp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74" y="1371600"/>
            <a:ext cx="2002971" cy="2103120"/>
          </a:xfrm>
          <a:prstGeom prst="rect">
            <a:avLst/>
          </a:prstGeom>
        </p:spPr>
      </p:pic>
      <p:graphicFrame>
        <p:nvGraphicFramePr>
          <p:cNvPr id="11" name="tabla_maze_ejemp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4330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Los cinco dan 63 movimientos. Best First es el más eficiente (100 nodos), seguido de A* (124).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maze_horizontal  ·  21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horizo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74" y="1371600"/>
            <a:ext cx="2002971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horizo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74" y="1371600"/>
            <a:ext cx="2002971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horizon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74" y="1371600"/>
            <a:ext cx="2002971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horizon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74" y="1371600"/>
            <a:ext cx="2002971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horizont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74" y="1371600"/>
            <a:ext cx="2002971" cy="2103120"/>
          </a:xfrm>
          <a:prstGeom prst="rect">
            <a:avLst/>
          </a:prstGeom>
        </p:spPr>
      </p:pic>
      <p:graphicFrame>
        <p:nvGraphicFramePr>
          <p:cNvPr id="12" name="tabla_maze_horizont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13 366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único pasillo: BF, DF, Best First y A* hacen exactamente lo mismo (163 nodos, OPEN = 1). IDDF lo repite: 13 366 nodos.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maze_libre  ·  21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lib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74" y="1371600"/>
            <a:ext cx="2002971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lib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74" y="1371600"/>
            <a:ext cx="2002971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lib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74" y="1371600"/>
            <a:ext cx="2002971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lib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74" y="1371600"/>
            <a:ext cx="2002971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lib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74" y="1371600"/>
            <a:ext cx="2002971" cy="2103120"/>
          </a:xfrm>
          <a:prstGeom prst="rect">
            <a:avLst/>
          </a:prstGeom>
        </p:spPr>
      </p:pic>
      <p:graphicFrame>
        <p:nvGraphicFramePr>
          <p:cNvPr id="13" name="tabla_maze_lib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24 634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(+128)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paredes la heurística es perfecta: Best First, 36 nodos. DF da 163 movimientos y llena OPEN (145). A* sufre empates en f: 207 nodos.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maze_noexit_small</a:t>
            </a:r>
            <a:endParaRPr lang="en-US" sz="3000" dirty="0"/>
          </a:p>
        </p:txBody>
      </p:sp>
      <p:sp>
        <p:nvSpPr>
          <p:cNvPr id="3" name="tarjeta_BF"/>
          <p:cNvSpPr/>
          <p:nvPr/>
        </p:nvSpPr>
        <p:spPr>
          <a:xfrm>
            <a:off x="457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8" name="tarjeta_DF"/>
          <p:cNvSpPr/>
          <p:nvPr/>
        </p:nvSpPr>
        <p:spPr>
          <a:xfrm>
            <a:off x="2743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DF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13" name="tarjeta_Best First"/>
          <p:cNvSpPr/>
          <p:nvPr/>
        </p:nvSpPr>
        <p:spPr>
          <a:xfrm>
            <a:off x="5029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Best First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18" name="tarjeta_A*"/>
          <p:cNvSpPr/>
          <p:nvPr/>
        </p:nvSpPr>
        <p:spPr>
          <a:xfrm>
            <a:off x="7315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A*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23" name="tarjeta_IDDF"/>
          <p:cNvSpPr/>
          <p:nvPr/>
        </p:nvSpPr>
        <p:spPr>
          <a:xfrm>
            <a:off x="9601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IDDF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graphicFrame>
        <p:nvGraphicFramePr>
          <p:cNvPr id="14" name="tabla_maze_noexit_sm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252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solución: los cinco exploran las 21 casillas alcanzables desde I antes de rendirse. IDDF repite la exploración: 252 nodos.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maze_noexit</a:t>
            </a:r>
            <a:endParaRPr lang="en-US" sz="3000" dirty="0"/>
          </a:p>
        </p:txBody>
      </p:sp>
      <p:sp>
        <p:nvSpPr>
          <p:cNvPr id="3" name="tarjeta_BF"/>
          <p:cNvSpPr/>
          <p:nvPr/>
        </p:nvSpPr>
        <p:spPr>
          <a:xfrm>
            <a:off x="457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8" name="tarjeta_DF"/>
          <p:cNvSpPr/>
          <p:nvPr/>
        </p:nvSpPr>
        <p:spPr>
          <a:xfrm>
            <a:off x="2743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DF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13" name="tarjeta_Best First"/>
          <p:cNvSpPr/>
          <p:nvPr/>
        </p:nvSpPr>
        <p:spPr>
          <a:xfrm>
            <a:off x="5029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Best First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18" name="tarjeta_A*"/>
          <p:cNvSpPr/>
          <p:nvPr/>
        </p:nvSpPr>
        <p:spPr>
          <a:xfrm>
            <a:off x="7315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A*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sp>
        <p:nvSpPr>
          <p:cNvPr id="23" name="tarjeta_IDDF"/>
          <p:cNvSpPr/>
          <p:nvPr/>
        </p:nvSpPr>
        <p:spPr>
          <a:xfrm>
            <a:off x="9601200" y="1097280"/>
            <a:ext cx="2103120" cy="23317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IDDF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21 396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nodos analizados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Sin solución</a:t>
            </a:r>
            <a:endParaRPr lang="en-US" sz="1300" dirty="0"/>
          </a:p>
        </p:txBody>
      </p:sp>
      <p:graphicFrame>
        <p:nvGraphicFramePr>
          <p:cNvPr id="15" name="tabla_maze_noexi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21 396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solución y sin G en el archivo: los cinco recorren las 178 casillas alcanzables. IDDF necesita 21 396 nodos.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maze_trampa  ·  21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tram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74" y="1371600"/>
            <a:ext cx="2002971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tramp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74" y="1371600"/>
            <a:ext cx="2002971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tramp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74" y="1371600"/>
            <a:ext cx="2002971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tramp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74" y="1371600"/>
            <a:ext cx="2002971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tramp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74" y="1371600"/>
            <a:ext cx="2002971" cy="2103120"/>
          </a:xfrm>
          <a:prstGeom prst="rect">
            <a:avLst/>
          </a:prstGeom>
        </p:spPr>
      </p:pic>
      <p:graphicFrame>
        <p:nvGraphicFramePr>
          <p:cNvPr id="16" name="tabla_maze_tramp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(+46)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Best First no cae en la trampa: 16 nodos y camino óptimo. DF se aleja por la parte superior y da 61 movimientos.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maze_trampa2  ·  21 × 20</a:t>
            </a:r>
            <a:endParaRPr lang="en-US" sz="3000" dirty="0"/>
          </a:p>
        </p:txBody>
      </p:sp>
      <p:sp>
        <p:nvSpPr>
          <p:cNvPr id="3" name="leyenda_0"/>
          <p:cNvSpPr/>
          <p:nvPr/>
        </p:nvSpPr>
        <p:spPr>
          <a:xfrm>
            <a:off x="7863840" y="539496"/>
            <a:ext cx="146304" cy="146304"/>
          </a:xfrm>
          <a:prstGeom prst="rect">
            <a:avLst/>
          </a:prstGeom>
          <a:solidFill>
            <a:srgbClr val="2B2F3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Pared</a:t>
            </a:r>
            <a:endParaRPr lang="en-US" sz="1000" dirty="0"/>
          </a:p>
        </p:txBody>
      </p:sp>
      <p:sp>
        <p:nvSpPr>
          <p:cNvPr id="5" name="leyenda_1"/>
          <p:cNvSpPr/>
          <p:nvPr/>
        </p:nvSpPr>
        <p:spPr>
          <a:xfrm>
            <a:off x="8549640" y="539496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325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Libre</a:t>
            </a:r>
            <a:endParaRPr lang="en-US" sz="1000" dirty="0"/>
          </a:p>
        </p:txBody>
      </p:sp>
      <p:sp>
        <p:nvSpPr>
          <p:cNvPr id="7" name="leyenda_2"/>
          <p:cNvSpPr/>
          <p:nvPr/>
        </p:nvSpPr>
        <p:spPr>
          <a:xfrm>
            <a:off x="9235440" y="539496"/>
            <a:ext cx="146304" cy="146304"/>
          </a:xfrm>
          <a:prstGeom prst="rect">
            <a:avLst/>
          </a:prstGeom>
          <a:solidFill>
            <a:srgbClr val="2E9E6A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Camino</a:t>
            </a:r>
            <a:endParaRPr lang="en-US" sz="1000" dirty="0"/>
          </a:p>
        </p:txBody>
      </p:sp>
      <p:sp>
        <p:nvSpPr>
          <p:cNvPr id="9" name="leyenda_3"/>
          <p:cNvSpPr/>
          <p:nvPr/>
        </p:nvSpPr>
        <p:spPr>
          <a:xfrm>
            <a:off x="9921240" y="539496"/>
            <a:ext cx="146304" cy="146304"/>
          </a:xfrm>
          <a:prstGeom prst="rect">
            <a:avLst/>
          </a:prstGeom>
          <a:solidFill>
            <a:srgbClr val="F2A93B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0412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Inicio I</a:t>
            </a:r>
            <a:endParaRPr lang="en-US" sz="1000" dirty="0"/>
          </a:p>
        </p:txBody>
      </p:sp>
      <p:sp>
        <p:nvSpPr>
          <p:cNvPr id="11" name="leyenda_4"/>
          <p:cNvSpPr/>
          <p:nvPr/>
        </p:nvSpPr>
        <p:spPr>
          <a:xfrm>
            <a:off x="10789920" y="539496"/>
            <a:ext cx="146304" cy="146304"/>
          </a:xfrm>
          <a:prstGeom prst="rect">
            <a:avLst/>
          </a:prstGeom>
          <a:solidFill>
            <a:srgbClr val="D6454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0" y="4754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Meta 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BF</a:t>
            </a:r>
            <a:endParaRPr lang="en-US" sz="1400" dirty="0"/>
          </a:p>
        </p:txBody>
      </p:sp>
      <p:pic>
        <p:nvPicPr>
          <p:cNvPr id="14" name="solucion_BF" descr="Solución de BF en maze_trampa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74" y="1371600"/>
            <a:ext cx="2002971" cy="21031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DF</a:t>
            </a:r>
            <a:endParaRPr lang="en-US" sz="1400" dirty="0"/>
          </a:p>
        </p:txBody>
      </p:sp>
      <p:pic>
        <p:nvPicPr>
          <p:cNvPr id="16" name="solucion_DF" descr="Solución de DF en maze_trampa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74" y="1371600"/>
            <a:ext cx="2002971" cy="2103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29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First</a:t>
            </a:r>
            <a:endParaRPr lang="en-US" sz="1400" dirty="0"/>
          </a:p>
        </p:txBody>
      </p:sp>
      <p:pic>
        <p:nvPicPr>
          <p:cNvPr id="18" name="solucion_Best First" descr="Solución de Best First en maze_trampa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74" y="1371600"/>
            <a:ext cx="2002971" cy="21031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A*</a:t>
            </a:r>
            <a:endParaRPr lang="en-US" sz="1400" dirty="0"/>
          </a:p>
        </p:txBody>
      </p:sp>
      <p:pic>
        <p:nvPicPr>
          <p:cNvPr id="20" name="solucion_A*" descr="Solución de A* en maze_trampa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74" y="1371600"/>
            <a:ext cx="2002971" cy="21031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IDDF</a:t>
            </a:r>
            <a:endParaRPr lang="en-US" sz="1400" dirty="0"/>
          </a:p>
        </p:txBody>
      </p:sp>
      <p:pic>
        <p:nvPicPr>
          <p:cNvPr id="22" name="solucion_IDDF" descr="Solución de IDDF en maze_trampa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274" y="1371600"/>
            <a:ext cx="2002971" cy="2103120"/>
          </a:xfrm>
          <a:prstGeom prst="rect">
            <a:avLst/>
          </a:prstGeom>
        </p:spPr>
      </p:pic>
      <p:graphicFrame>
        <p:nvGraphicFramePr>
          <p:cNvPr id="17" name="tabla_maze_trampa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Profundidad (movimientos)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Nodos analizados (pasos)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4549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OPEN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Máx. CLOSED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Manhattan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¿Camino más corto?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(+22)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No (+10)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Aquí la heurística sí engaña a Best First (42 frente a 32). A* corrige con g y llega al óptimo con 81 nodos.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Resumen: movimientos · nodos analizados</a:t>
            </a:r>
            <a:endParaRPr lang="en-US" sz="3000" dirty="0"/>
          </a:p>
        </p:txBody>
      </p:sp>
      <p:graphicFrame>
        <p:nvGraphicFramePr>
          <p:cNvPr id="18" name="tabla_resum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Laberinto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First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69 · 160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83 · 114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83 · 118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69 · 151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69 · 9096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61 · 161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65 · 88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75 · 119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61 · 150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61 · 8530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 · 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54 · 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54 · 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 · 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 · 821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51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175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38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707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 · 141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36 · 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42 · 104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 · 102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 · 2360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maze_ejemplo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 · 166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 · 154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 · 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 · 124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63 · 4330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maze_horizontal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 · 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 · 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 · 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 · 163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162 · 13 366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maze_libre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308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163 · 164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207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35 · 24 634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maze_noexit_small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252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maze_noexit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sin sol. · 21 396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maze_trampa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 · 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61 · 136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 · 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 · 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 · 169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maze_trampa2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 · 186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54 · 107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42 · 51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 · 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32 · 4549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En rojo: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camino más largo que el óptimo. Formato de cada celda: movimientos · nodos analizados.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¿Quién encuentra el camino más corto?</a:t>
            </a:r>
            <a:endParaRPr lang="en-US" sz="3000" dirty="0"/>
          </a:p>
        </p:txBody>
      </p:sp>
      <p:sp>
        <p:nvSpPr>
          <p:cNvPr id="3" name="stat_0"/>
          <p:cNvSpPr/>
          <p:nvPr/>
        </p:nvSpPr>
        <p:spPr>
          <a:xfrm>
            <a:off x="457200" y="1280160"/>
            <a:ext cx="36118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BF, A* e IDDF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Óptimos en todos los laberintos con solución, como predice la teoría.</a:t>
            </a:r>
            <a:endParaRPr lang="en-US" sz="1400" dirty="0"/>
          </a:p>
        </p:txBody>
      </p:sp>
      <p:sp>
        <p:nvSpPr>
          <p:cNvPr id="7" name="stat_1"/>
          <p:cNvSpPr/>
          <p:nvPr/>
        </p:nvSpPr>
        <p:spPr>
          <a:xfrm>
            <a:off x="4297680" y="1280160"/>
            <a:ext cx="36118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463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Best First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óptimo en maze_1, 2, 3, 5 y trampa2: solo mira lo que falta (h), no lo recorrido (g).</a:t>
            </a:r>
            <a:endParaRPr lang="en-US" sz="1400" dirty="0"/>
          </a:p>
        </p:txBody>
      </p:sp>
      <p:sp>
        <p:nvSpPr>
          <p:cNvPr id="11" name="stat_2"/>
          <p:cNvSpPr/>
          <p:nvPr/>
        </p:nvSpPr>
        <p:spPr>
          <a:xfrm>
            <a:off x="8138160" y="1280160"/>
            <a:ext cx="36118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463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óptimo en siete laberintos; en maze_libre da 163 movimientos frente a 35.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qué A* sí y Best First no: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ambos usan la distancia Manhattan, pero A* ordena por g + h. Como h es admisible (nunca sobreestima), A* no puede cerrar la meta por un camino más largo. Best First, en cambio, sigue cualquier pasillo que «parezca» acercarse, aunque luego deba rodear.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¿Cuánto trabajo cuesta cada uno?</a:t>
            </a:r>
            <a:endParaRPr lang="en-US" sz="3000" dirty="0"/>
          </a:p>
        </p:txBody>
      </p:sp>
      <p:graphicFrame>
        <p:nvGraphicFramePr>
          <p:cNvPr id="3" name="grafico_nodos" descr=""/>
          <p:cNvGraphicFramePr/>
          <p:nvPr/>
        </p:nvGraphicFramePr>
        <p:xfrm>
          <a:off x="457200" y="1188720"/>
          <a:ext cx="71323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ato_0"/>
          <p:cNvSpPr/>
          <p:nvPr/>
        </p:nvSpPr>
        <p:spPr>
          <a:xfrm>
            <a:off x="7863840" y="1188720"/>
            <a:ext cx="3840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924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A* ≤ BF en nodos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 los 10 laberintos con solución A* analiza menos nodos que BF (igual en el pasillo único).</a:t>
            </a:r>
            <a:endParaRPr lang="en-US" sz="1300" dirty="0"/>
          </a:p>
        </p:txBody>
      </p:sp>
      <p:sp>
        <p:nvSpPr>
          <p:cNvPr id="7" name="dato_1"/>
          <p:cNvSpPr/>
          <p:nvPr/>
        </p:nvSpPr>
        <p:spPr>
          <a:xfrm>
            <a:off x="7863840" y="2834640"/>
            <a:ext cx="3840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Best First, el más rápido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383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Cuando la heurística acierta (maze_4, libre, trampa) llega casi sin desviarse.</a:t>
            </a:r>
            <a:endParaRPr lang="en-US" sz="1300" dirty="0"/>
          </a:p>
        </p:txBody>
      </p:sp>
      <p:sp>
        <p:nvSpPr>
          <p:cNvPr id="10" name="dato_2"/>
          <p:cNvSpPr/>
          <p:nvPr/>
        </p:nvSpPr>
        <p:spPr>
          <a:xfrm>
            <a:off x="7863840" y="4480560"/>
            <a:ext cx="3840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9244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IDDF: de 5× a 82× BF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Mismo camino óptimo, pero repite toda la búsqueda con cada nuevo límite.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Memoria y casos especiales</a:t>
            </a:r>
            <a:endParaRPr lang="en-US" sz="3000" dirty="0"/>
          </a:p>
        </p:txBody>
      </p:sp>
      <p:sp>
        <p:nvSpPr>
          <p:cNvPr id="3" name="caso_0"/>
          <p:cNvSpPr/>
          <p:nvPr/>
        </p:nvSpPr>
        <p:spPr>
          <a:xfrm>
            <a:off x="457200" y="1234440"/>
            <a:ext cx="55321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Máx. OPEN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 pasillos estrechos la frontera de BF es pequeña (1–18). DF la dispara en espacios abiertos: 145 en maze_libre. En A* cuentan también las copias repetidas de una casilla mejorada.</a:t>
            </a:r>
            <a:endParaRPr lang="en-US" sz="1500" dirty="0"/>
          </a:p>
        </p:txBody>
      </p:sp>
      <p:sp>
        <p:nvSpPr>
          <p:cNvPr id="6" name="caso_1"/>
          <p:cNvSpPr/>
          <p:nvPr/>
        </p:nvSpPr>
        <p:spPr>
          <a:xfrm>
            <a:off x="6172200" y="1234440"/>
            <a:ext cx="55321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4173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IDDF y memoria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 OPEN se parece al de DF (1–33). Su ventaja teórica frente a BF aparece con factores de ramificación altos; en estos laberintos, casi todo pasillos, apenas se nota.</a:t>
            </a:r>
            <a:endParaRPr lang="en-US" sz="1500" dirty="0"/>
          </a:p>
        </p:txBody>
      </p:sp>
      <p:sp>
        <p:nvSpPr>
          <p:cNvPr id="9" name="caso_2"/>
          <p:cNvSpPr/>
          <p:nvPr/>
        </p:nvSpPr>
        <p:spPr>
          <a:xfrm>
            <a:off x="457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8862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Laberintos sin salida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Ningún algoritmo puede ahorrar trabajo: todos recorren toda la zona alcanzable (21 y 178 casillas). La heurística no orienta porque no hay G.</a:t>
            </a:r>
            <a:endParaRPr lang="en-US" sz="1500" dirty="0"/>
          </a:p>
        </p:txBody>
      </p:sp>
      <p:sp>
        <p:nvSpPr>
          <p:cNvPr id="12" name="caso_3"/>
          <p:cNvSpPr/>
          <p:nvPr/>
        </p:nvSpPr>
        <p:spPr>
          <a:xfrm>
            <a:off x="6172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8862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Laberintos trampa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38912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 maze_trampa la G está cerca y Best First acierta (16 nodos). En trampa2 la heurística engaña: Best First da 42 frente a 32.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3" name="marca_0"/>
          <p:cNvSpPr/>
          <p:nvPr/>
        </p:nvSpPr>
        <p:spPr>
          <a:xfrm>
            <a:off x="457200" y="15270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La mejor opción general: siempre óptimo y nunca analiza más nodos que BF.</a:t>
            </a:r>
            <a:endParaRPr lang="en-US" sz="1700" dirty="0"/>
          </a:p>
        </p:txBody>
      </p:sp>
      <p:sp>
        <p:nvSpPr>
          <p:cNvPr id="6" name="marca_1"/>
          <p:cNvSpPr/>
          <p:nvPr/>
        </p:nvSpPr>
        <p:spPr>
          <a:xfrm>
            <a:off x="457200" y="2441448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2860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Óptimo y predecible, pero explora en ondas sin orientación.</a:t>
            </a:r>
            <a:endParaRPr lang="en-US" sz="1700" dirty="0"/>
          </a:p>
        </p:txBody>
      </p:sp>
      <p:sp>
        <p:nvSpPr>
          <p:cNvPr id="9" name="marca_2"/>
          <p:cNvSpPr/>
          <p:nvPr/>
        </p:nvSpPr>
        <p:spPr>
          <a:xfrm>
            <a:off x="457200" y="335584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200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First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00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El más rápido cuando la heurística acierta; sin garantía de óptimo.</a:t>
            </a:r>
            <a:endParaRPr lang="en-US" sz="1700" dirty="0"/>
          </a:p>
        </p:txBody>
      </p:sp>
      <p:sp>
        <p:nvSpPr>
          <p:cNvPr id="12" name="marca_3"/>
          <p:cNvSpPr/>
          <p:nvPr/>
        </p:nvSpPr>
        <p:spPr>
          <a:xfrm>
            <a:off x="457200" y="427024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Coste y longitud imprevisibles; depende del orden de los vecinos.</a:t>
            </a:r>
            <a:endParaRPr lang="en-US" sz="1700" dirty="0"/>
          </a:p>
        </p:txBody>
      </p:sp>
      <p:sp>
        <p:nvSpPr>
          <p:cNvPr id="15" name="marca_4"/>
          <p:cNvSpPr/>
          <p:nvPr/>
        </p:nvSpPr>
        <p:spPr>
          <a:xfrm>
            <a:off x="457200" y="5184648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029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IDDF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029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Óptimo con poca memoria, a cambio de repetir mucho trabajo.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erintos">
  <a:themeElements>
    <a:clrScheme name="Laberintos">
      <a:dk1>
        <a:srgbClr val="2B2F36"/>
      </a:dk1>
      <a:lt1>
        <a:srgbClr val="FFFFFF"/>
      </a:lt1>
      <a:dk2>
        <a:srgbClr val="3D4450"/>
      </a:dk2>
      <a:lt2>
        <a:srgbClr val="F1F3F5"/>
      </a:lt2>
      <a:accent1>
        <a:srgbClr val="2E9E6A"/>
      </a:accent1>
      <a:accent2>
        <a:srgbClr val="F2A93B"/>
      </a:accent2>
      <a:accent3>
        <a:srgbClr val="D64545"/>
      </a:accent3>
      <a:accent4>
        <a:srgbClr val="5B6B7F"/>
      </a:accent4>
      <a:accent5>
        <a:srgbClr val="D7EFE3"/>
      </a:accent5>
      <a:accent6>
        <a:srgbClr val="C9CED6"/>
      </a:accent6>
      <a:hlink>
        <a:srgbClr val="2E9E6A"/>
      </a:hlink>
      <a:folHlink>
        <a:srgbClr val="5B6B7F"/>
      </a:folHlink>
    </a:clrScheme>
    <a:fontScheme name="Laberint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de búsqueda en laberintos</dc:title>
  <dc:subject>PptxGenJS Presentation</dc:subject>
  <dc:creator>Gonzalo</dc:creator>
  <cp:lastModifiedBy>Gonzalo</cp:lastModifiedBy>
  <cp:revision>1</cp:revision>
  <dcterms:created xsi:type="dcterms:W3CDTF">2026-10-18T12:21:16Z</dcterms:created>
  <dcterms:modified xsi:type="dcterms:W3CDTF">2026-10-18T12:21:16Z</dcterms:modified>
</cp:coreProperties>
</file>